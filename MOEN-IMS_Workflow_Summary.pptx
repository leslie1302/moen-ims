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3108960"/>
            <a:ext cx="6035040" cy="6035040"/>
          </a:xfrm>
          <a:prstGeom prst="ellipse">
            <a:avLst/>
          </a:prstGeom>
          <a:solidFill>
            <a:srgbClr val="23396B"/>
          </a:solidFill>
          <a:ln/>
        </p:spPr>
      </p:sp>
      <p:sp>
        <p:nvSpPr>
          <p:cNvPr id="3" name="Shape 1"/>
          <p:cNvSpPr/>
          <p:nvPr/>
        </p:nvSpPr>
        <p:spPr>
          <a:xfrm>
            <a:off x="10360152" y="-1920240"/>
            <a:ext cx="3200400" cy="3200400"/>
          </a:xfrm>
          <a:prstGeom prst="ellipse">
            <a:avLst/>
          </a:prstGeom>
          <a:solidFill>
            <a:srgbClr val="3E5C9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 INTEGRATED ENERGY PROJECT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Workflow, Email Alerts</a:t>
            </a:r>
            <a:endParaRPr lang="en-US" sz="41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Document Automation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566928" y="37033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summary of the request-to-BoQ-deduction process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" y="4764024"/>
            <a:ext cx="3364992" cy="0"/>
          </a:xfrm>
          <a:prstGeom prst="line">
            <a:avLst/>
          </a:prstGeom>
          <a:noFill/>
          <a:ln w="19050">
            <a:solidFill>
              <a:srgbClr val="3E5C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4709160"/>
            <a:ext cx="109728" cy="10972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9" name="Shape 7"/>
          <p:cNvSpPr/>
          <p:nvPr/>
        </p:nvSpPr>
        <p:spPr>
          <a:xfrm>
            <a:off x="1033272" y="4709160"/>
            <a:ext cx="109728" cy="109728"/>
          </a:xfrm>
          <a:prstGeom prst="ellipse">
            <a:avLst/>
          </a:prstGeom>
          <a:solidFill>
            <a:srgbClr val="EAF0F8"/>
          </a:solidFill>
          <a:ln/>
        </p:spPr>
      </p:sp>
      <p:sp>
        <p:nvSpPr>
          <p:cNvPr id="10" name="Shape 8"/>
          <p:cNvSpPr/>
          <p:nvPr/>
        </p:nvSpPr>
        <p:spPr>
          <a:xfrm>
            <a:off x="1453896" y="4709160"/>
            <a:ext cx="109728" cy="109728"/>
          </a:xfrm>
          <a:prstGeom prst="ellipse">
            <a:avLst/>
          </a:prstGeom>
          <a:solidFill>
            <a:srgbClr val="EAF0F8"/>
          </a:solidFill>
          <a:ln/>
        </p:spPr>
      </p:sp>
      <p:sp>
        <p:nvSpPr>
          <p:cNvPr id="11" name="Shape 9"/>
          <p:cNvSpPr/>
          <p:nvPr/>
        </p:nvSpPr>
        <p:spPr>
          <a:xfrm>
            <a:off x="1874520" y="4709160"/>
            <a:ext cx="109728" cy="109728"/>
          </a:xfrm>
          <a:prstGeom prst="ellipse">
            <a:avLst/>
          </a:prstGeom>
          <a:solidFill>
            <a:srgbClr val="EAF0F8"/>
          </a:solidFill>
          <a:ln/>
        </p:spPr>
      </p:sp>
      <p:sp>
        <p:nvSpPr>
          <p:cNvPr id="12" name="Shape 10"/>
          <p:cNvSpPr/>
          <p:nvPr/>
        </p:nvSpPr>
        <p:spPr>
          <a:xfrm>
            <a:off x="2295144" y="4709160"/>
            <a:ext cx="109728" cy="109728"/>
          </a:xfrm>
          <a:prstGeom prst="ellipse">
            <a:avLst/>
          </a:prstGeom>
          <a:solidFill>
            <a:srgbClr val="EAF0F8"/>
          </a:solidFill>
          <a:ln/>
        </p:spPr>
      </p:sp>
      <p:sp>
        <p:nvSpPr>
          <p:cNvPr id="13" name="Shape 11"/>
          <p:cNvSpPr/>
          <p:nvPr/>
        </p:nvSpPr>
        <p:spPr>
          <a:xfrm>
            <a:off x="2715768" y="4709160"/>
            <a:ext cx="109728" cy="109728"/>
          </a:xfrm>
          <a:prstGeom prst="ellipse">
            <a:avLst/>
          </a:prstGeom>
          <a:solidFill>
            <a:srgbClr val="EAF0F8"/>
          </a:solidFill>
          <a:ln/>
        </p:spPr>
      </p:sp>
      <p:sp>
        <p:nvSpPr>
          <p:cNvPr id="14" name="Shape 12"/>
          <p:cNvSpPr/>
          <p:nvPr/>
        </p:nvSpPr>
        <p:spPr>
          <a:xfrm>
            <a:off x="3136392" y="4709160"/>
            <a:ext cx="109728" cy="109728"/>
          </a:xfrm>
          <a:prstGeom prst="ellipse">
            <a:avLst/>
          </a:prstGeom>
          <a:solidFill>
            <a:srgbClr val="EAF0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557016" y="4709160"/>
            <a:ext cx="109728" cy="109728"/>
          </a:xfrm>
          <a:prstGeom prst="ellipse">
            <a:avLst/>
          </a:prstGeom>
          <a:solidFill>
            <a:srgbClr val="EAF0F8"/>
          </a:solidFill>
          <a:ln/>
        </p:spPr>
      </p:sp>
      <p:sp>
        <p:nvSpPr>
          <p:cNvPr id="16" name="Shape 14"/>
          <p:cNvSpPr/>
          <p:nvPr/>
        </p:nvSpPr>
        <p:spPr>
          <a:xfrm>
            <a:off x="3977640" y="4709160"/>
            <a:ext cx="109728" cy="10972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937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3E5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 – 9   ·   request  →  Bill of Quantity deduction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brief  ·  24 May 2026  ·  Version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97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know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MOEN-IMS moves materials — and the two capabilities that define the current build.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3441192" cy="3383280"/>
          </a:xfrm>
          <a:prstGeom prst="roundRect">
            <a:avLst>
              <a:gd name="adj" fmla="val 2703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57400"/>
            <a:ext cx="3441192" cy="1097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2514600"/>
            <a:ext cx="841248" cy="841248"/>
          </a:xfrm>
          <a:prstGeom prst="ellipse">
            <a:avLst/>
          </a:prstGeom>
          <a:solidFill>
            <a:srgbClr val="16284C"/>
          </a:solidFill>
          <a:ln/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175" y="2783799"/>
            <a:ext cx="302849" cy="3028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0976" y="3520440"/>
            <a:ext cx="2673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end-to-end workflow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50976" y="4160520"/>
            <a:ext cx="2673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stages carry every material release from the initial request through to a deduction on the project Bill of Quantity.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3880" y="2057400"/>
            <a:ext cx="3441192" cy="3383280"/>
          </a:xfrm>
          <a:prstGeom prst="roundRect">
            <a:avLst>
              <a:gd name="adj" fmla="val 2703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3880" y="2057400"/>
            <a:ext cx="3441192" cy="1097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3" name="Shape 10"/>
          <p:cNvSpPr/>
          <p:nvPr/>
        </p:nvSpPr>
        <p:spPr>
          <a:xfrm>
            <a:off x="4757928" y="2514600"/>
            <a:ext cx="841248" cy="841248"/>
          </a:xfrm>
          <a:prstGeom prst="ellipse">
            <a:avLst/>
          </a:prstGeom>
          <a:solidFill>
            <a:srgbClr val="16284C"/>
          </a:solidFill>
          <a:ln/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127" y="2783799"/>
            <a:ext cx="302849" cy="3028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7928" y="3520440"/>
            <a:ext cx="2673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email at every step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757928" y="4160520"/>
            <a:ext cx="2673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handover now triggers an automatic email, so the process never waits on someone remembering to check a screen.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80832" y="2057400"/>
            <a:ext cx="3441192" cy="3383280"/>
          </a:xfrm>
          <a:prstGeom prst="roundRect">
            <a:avLst>
              <a:gd name="adj" fmla="val 2703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180832" y="2057400"/>
            <a:ext cx="3441192" cy="1097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9" name="Shape 15"/>
          <p:cNvSpPr/>
          <p:nvPr/>
        </p:nvSpPr>
        <p:spPr>
          <a:xfrm>
            <a:off x="8564880" y="2514600"/>
            <a:ext cx="841248" cy="841248"/>
          </a:xfrm>
          <a:prstGeom prst="ellipse">
            <a:avLst/>
          </a:prstGeom>
          <a:solidFill>
            <a:srgbClr val="16284C"/>
          </a:solidFill>
          <a:ln/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079" y="2783799"/>
            <a:ext cx="302849" cy="3028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64880" y="3520440"/>
            <a:ext cx="2673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Documents on demand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564880" y="4160520"/>
            <a:ext cx="2673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memos and release letters are generated automatically as signed-ready PDFs, replacing manual typing.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Executive Summary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97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request to BoQ deduction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465576" cy="566928"/>
          </a:xfrm>
          <a:prstGeom prst="roundRect">
            <a:avLst>
              <a:gd name="adj" fmla="val 12903"/>
            </a:avLst>
          </a:prstGeom>
          <a:solidFill>
            <a:srgbClr val="16284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27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15184" y="162763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 – 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2340864"/>
            <a:ext cx="3465576" cy="3456432"/>
          </a:xfrm>
          <a:prstGeom prst="roundRect">
            <a:avLst>
              <a:gd name="adj" fmla="val 2381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2487168"/>
            <a:ext cx="3191256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670048"/>
            <a:ext cx="338328" cy="33832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67004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16736" y="2542032"/>
            <a:ext cx="2532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raised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Officer logs the release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" y="3291840"/>
            <a:ext cx="3191256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474720"/>
            <a:ext cx="338328" cy="33832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4747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16736" y="3346704"/>
            <a:ext cx="2532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generated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memo &amp; release letter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" y="4096512"/>
            <a:ext cx="3191256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279392"/>
            <a:ext cx="338328" cy="33832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27939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16736" y="4151376"/>
            <a:ext cx="2532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&amp; verified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uploaded, QR-checked, confirmed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61688" y="1627632"/>
            <a:ext cx="3465576" cy="566928"/>
          </a:xfrm>
          <a:prstGeom prst="roundRect">
            <a:avLst>
              <a:gd name="adj" fmla="val 12903"/>
            </a:avLst>
          </a:prstGeom>
          <a:solidFill>
            <a:srgbClr val="16284C"/>
          </a:solidFill>
          <a:ln/>
        </p:spPr>
      </p:sp>
      <p:sp>
        <p:nvSpPr>
          <p:cNvPr id="21" name="Text 19"/>
          <p:cNvSpPr/>
          <p:nvPr/>
        </p:nvSpPr>
        <p:spPr>
          <a:xfrm>
            <a:off x="4544568" y="1627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DELIVER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9944" y="162763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4 – 7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61688" y="2340864"/>
            <a:ext cx="3465576" cy="3456432"/>
          </a:xfrm>
          <a:prstGeom prst="roundRect">
            <a:avLst>
              <a:gd name="adj" fmla="val 2381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8848" y="2487168"/>
            <a:ext cx="3191256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2670048"/>
            <a:ext cx="338328" cy="33832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26" name="Text 24"/>
          <p:cNvSpPr/>
          <p:nvPr/>
        </p:nvSpPr>
        <p:spPr>
          <a:xfrm>
            <a:off x="4636008" y="267004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11496" y="2542032"/>
            <a:ext cx="2532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by store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Storekeeper verifies and processes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98848" y="3291840"/>
            <a:ext cx="3191256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36008" y="3474720"/>
            <a:ext cx="338328" cy="33832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0" name="Text 28"/>
          <p:cNvSpPr/>
          <p:nvPr/>
        </p:nvSpPr>
        <p:spPr>
          <a:xfrm>
            <a:off x="4636008" y="34747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11496" y="3346704"/>
            <a:ext cx="2532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deducted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completed; warehouse drawn down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98848" y="4096512"/>
            <a:ext cx="3191256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36008" y="4279392"/>
            <a:ext cx="338328" cy="33832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4" name="Text 32"/>
          <p:cNvSpPr/>
          <p:nvPr/>
        </p:nvSpPr>
        <p:spPr>
          <a:xfrm>
            <a:off x="4636008" y="427939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11496" y="4151376"/>
            <a:ext cx="2532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assigned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Carrier, vehicle and driver attached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98848" y="4901184"/>
            <a:ext cx="3191256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36008" y="5084064"/>
            <a:ext cx="338328" cy="33832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8" name="Text 36"/>
          <p:cNvSpPr/>
          <p:nvPr/>
        </p:nvSpPr>
        <p:spPr>
          <a:xfrm>
            <a:off x="4636008" y="508406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11496" y="4956048"/>
            <a:ext cx="2532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site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from in-transit to delivered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56448" y="1627632"/>
            <a:ext cx="3465576" cy="566928"/>
          </a:xfrm>
          <a:prstGeom prst="roundRect">
            <a:avLst>
              <a:gd name="adj" fmla="val 12903"/>
            </a:avLst>
          </a:prstGeom>
          <a:solidFill>
            <a:srgbClr val="16284C"/>
          </a:solidFill>
          <a:ln/>
        </p:spPr>
      </p:sp>
      <p:sp>
        <p:nvSpPr>
          <p:cNvPr id="41" name="Text 39"/>
          <p:cNvSpPr/>
          <p:nvPr/>
        </p:nvSpPr>
        <p:spPr>
          <a:xfrm>
            <a:off x="8339328" y="1627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204704" y="162763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8 – 9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156448" y="2340864"/>
            <a:ext cx="3465576" cy="3456432"/>
          </a:xfrm>
          <a:prstGeom prst="roundRect">
            <a:avLst>
              <a:gd name="adj" fmla="val 2381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93608" y="2487168"/>
            <a:ext cx="3191256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30768" y="2670048"/>
            <a:ext cx="338328" cy="33832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6" name="Text 44"/>
          <p:cNvSpPr/>
          <p:nvPr/>
        </p:nvSpPr>
        <p:spPr>
          <a:xfrm>
            <a:off x="8430768" y="267004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906256" y="2542032"/>
            <a:ext cx="2532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receipt logged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confirms with proof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293608" y="3291840"/>
            <a:ext cx="3191256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430768" y="3474720"/>
            <a:ext cx="338328" cy="33832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50" name="Text 48"/>
          <p:cNvSpPr/>
          <p:nvPr/>
        </p:nvSpPr>
        <p:spPr>
          <a:xfrm>
            <a:off x="8430768" y="34747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906256" y="3346704"/>
            <a:ext cx="2532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deduction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quantity posted to the BoQ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050792" y="35661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7845552" y="35661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Executive Summary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97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email alert at every step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713232" cy="713232"/>
          </a:xfrm>
          <a:prstGeom prst="ellipse">
            <a:avLst/>
          </a:prstGeom>
          <a:solidFill>
            <a:srgbClr val="16284C"/>
          </a:solidFill>
          <a:ln/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162" y="2011314"/>
            <a:ext cx="256764" cy="2567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17904" y="17465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handover, an email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517904" y="2112264"/>
            <a:ext cx="5349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workflow events each raise an automatic email alert alongside an in-app notification.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66928" y="2990088"/>
            <a:ext cx="713232" cy="713232"/>
          </a:xfrm>
          <a:prstGeom prst="ellipse">
            <a:avLst/>
          </a:prstGeom>
          <a:solidFill>
            <a:srgbClr val="16284C"/>
          </a:solidFill>
          <a:ln/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62" y="3218322"/>
            <a:ext cx="256764" cy="2567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17904" y="29535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Straight to Outlook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517904" y="3319272"/>
            <a:ext cx="5349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delivered through Microsoft 365 — they arrive in the inboxes staff already watch.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66928" y="4197096"/>
            <a:ext cx="713232" cy="713232"/>
          </a:xfrm>
          <a:prstGeom prst="ellipse">
            <a:avLst/>
          </a:prstGeom>
          <a:solidFill>
            <a:srgbClr val="16284C"/>
          </a:solidFill>
          <a:ln/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62" y="4425330"/>
            <a:ext cx="256764" cy="2567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17904" y="4160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blocks work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517904" y="4526280"/>
            <a:ext cx="5349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alert cannot be sent it is logged and the workflow continues; a notification problem can never stall a transaction.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922008" y="1737360"/>
            <a:ext cx="4700016" cy="4069080"/>
          </a:xfrm>
          <a:prstGeom prst="roundRect">
            <a:avLst>
              <a:gd name="adj" fmla="val 2247"/>
            </a:avLst>
          </a:prstGeom>
          <a:solidFill>
            <a:srgbClr val="16284C"/>
          </a:solidFill>
          <a:ln/>
        </p:spPr>
      </p:sp>
      <p:sp>
        <p:nvSpPr>
          <p:cNvPr id="17" name="Text 12"/>
          <p:cNvSpPr/>
          <p:nvPr/>
        </p:nvSpPr>
        <p:spPr>
          <a:xfrm>
            <a:off x="7232904" y="1938528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TOLD, AND WHEN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232904" y="2395728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release request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7232904" y="2642616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Officers · Management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232904" y="2930652"/>
            <a:ext cx="4078224" cy="0"/>
          </a:xfrm>
          <a:prstGeom prst="line">
            <a:avLst/>
          </a:prstGeom>
          <a:noFill/>
          <a:ln w="9525">
            <a:solidFill>
              <a:srgbClr val="3E5C9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232904" y="2999232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completed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232904" y="3246120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· Management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232904" y="3534156"/>
            <a:ext cx="4078224" cy="0"/>
          </a:xfrm>
          <a:prstGeom prst="line">
            <a:avLst/>
          </a:prstGeom>
          <a:noFill/>
          <a:ln w="9525">
            <a:solidFill>
              <a:srgbClr val="3E5C9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232904" y="360273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delivered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7232904" y="3849624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group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232904" y="4137660"/>
            <a:ext cx="4078224" cy="0"/>
          </a:xfrm>
          <a:prstGeom prst="line">
            <a:avLst/>
          </a:prstGeom>
          <a:noFill/>
          <a:ln w="9525">
            <a:solidFill>
              <a:srgbClr val="3E5C9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232904" y="420624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receipt logged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7232904" y="445312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· Store Officers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7232904" y="4741164"/>
            <a:ext cx="4078224" cy="0"/>
          </a:xfrm>
          <a:prstGeom prst="line">
            <a:avLst/>
          </a:prstGeom>
          <a:noFill/>
          <a:ln w="9525">
            <a:solidFill>
              <a:srgbClr val="3E5C9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232904" y="4809744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over-issuance raised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7232904" y="5056632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7232904" y="5440680"/>
            <a:ext cx="4078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further events — processing, in-transit, low stock and more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Executive Summary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97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memos &amp; release letters, generated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864608" cy="2331720"/>
          </a:xfrm>
          <a:prstGeom prst="roundRect">
            <a:avLst>
              <a:gd name="adj" fmla="val 3922"/>
            </a:avLst>
          </a:prstGeom>
          <a:solidFill>
            <a:srgbClr val="E7E9EE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975104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77824" y="2249424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Typed by hand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77824" y="2743200"/>
            <a:ext cx="4242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needed its memo and letter typed out in a word processor — slow, and open to inconsistent wording and transcription error.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31536" y="2651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757416" y="1783080"/>
            <a:ext cx="4864608" cy="2331720"/>
          </a:xfrm>
          <a:prstGeom prst="roundRect">
            <a:avLst>
              <a:gd name="adj" fmla="val 3922"/>
            </a:avLst>
          </a:prstGeom>
          <a:solidFill>
            <a:srgbClr val="16284C"/>
          </a:solidFill>
          <a:ln/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57416" y="1783080"/>
            <a:ext cx="4864608" cy="1097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1" name="Text 9"/>
          <p:cNvSpPr/>
          <p:nvPr/>
        </p:nvSpPr>
        <p:spPr>
          <a:xfrm>
            <a:off x="7068312" y="1975104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68312" y="2249424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Generated in one click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068312" y="2743200"/>
            <a:ext cx="4242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release record, a single action produces both PDFs — correctly formatted, uniquely coded, and ready to print and sign.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437083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7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GENERATOR HANDLES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736592"/>
            <a:ext cx="2558034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4901184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78992" y="4809744"/>
            <a:ext cx="188137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memo &amp; letter format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99282" y="4736592"/>
            <a:ext cx="2558034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4901184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911346" y="4809744"/>
            <a:ext cx="188137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Signatory from an editable table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31636" y="4736592"/>
            <a:ext cx="2558034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04" y="4901184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43700" y="4809744"/>
            <a:ext cx="188137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adapts to project type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063990" y="4736592"/>
            <a:ext cx="2558034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5158" y="4901184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576054" y="4809744"/>
            <a:ext cx="188137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RE-code + QR on every document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Executive Summary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97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documents look like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RE-2026-0003 — 2,000 LED street lights for the Cost Sharing programme at Goaso.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2684143" cy="3739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4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6" name="Image 0" descr="screenshots/shot4_approval_m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2002536"/>
            <a:ext cx="2556127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742432"/>
            <a:ext cx="2684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memo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561967" y="1938528"/>
            <a:ext cx="2684143" cy="3739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4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9" name="Image 1" descr="screenshots/shot5_release_le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975" y="2002536"/>
            <a:ext cx="2556127" cy="3611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1967" y="5742432"/>
            <a:ext cx="2684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letter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648447" y="1938528"/>
            <a:ext cx="4973577" cy="3739896"/>
          </a:xfrm>
          <a:prstGeom prst="roundRect">
            <a:avLst>
              <a:gd name="adj" fmla="val 2445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959343" y="2139696"/>
            <a:ext cx="43517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343" y="259689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06815" y="2532888"/>
            <a:ext cx="40043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code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306815" y="2807208"/>
            <a:ext cx="40043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documents carry RE-2026-0003 — linking the memo, the letter and the signed scan.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343" y="335584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06815" y="3291840"/>
            <a:ext cx="40043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QR-verified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7306815" y="3566160"/>
            <a:ext cx="40043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QR code lets a scanned, signed copy be matched back to this release automatically.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343" y="4114800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06815" y="4050792"/>
            <a:ext cx="40043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signatories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7306815" y="4325112"/>
            <a:ext cx="40043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Ag. Director, Power signs the memo; Chief Director, for the Hon. Minister, the letter.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9343" y="4873752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306815" y="4809744"/>
            <a:ext cx="40043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Project-aware wording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7306815" y="5084064"/>
            <a:ext cx="40043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text reflects the Cost Sharing programme and the Goaso beneficiary.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Executive Summary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97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safeguards on every document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release and its documents are protected by the same set of controls.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2006194" cy="324612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03120"/>
            <a:ext cx="2006194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7" name="Shape 5"/>
          <p:cNvSpPr/>
          <p:nvPr/>
        </p:nvSpPr>
        <p:spPr>
          <a:xfrm>
            <a:off x="1195121" y="2414016"/>
            <a:ext cx="749808" cy="749808"/>
          </a:xfrm>
          <a:prstGeom prst="ellipse">
            <a:avLst/>
          </a:prstGeom>
          <a:solidFill>
            <a:srgbClr val="16284C"/>
          </a:solidFill>
          <a:ln/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059" y="2653955"/>
            <a:ext cx="269931" cy="26993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310128"/>
            <a:ext cx="1713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RE-code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9808" y="3858768"/>
            <a:ext cx="16404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is coded RE-YYYY-NNNN, allocated automatically and rolling each year.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829154" y="2103120"/>
            <a:ext cx="2006194" cy="324612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29154" y="2103120"/>
            <a:ext cx="2006194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3" name="Shape 10"/>
          <p:cNvSpPr/>
          <p:nvPr/>
        </p:nvSpPr>
        <p:spPr>
          <a:xfrm>
            <a:off x="3457346" y="2414016"/>
            <a:ext cx="749808" cy="749808"/>
          </a:xfrm>
          <a:prstGeom prst="ellipse">
            <a:avLst/>
          </a:prstGeom>
          <a:solidFill>
            <a:srgbClr val="16284C"/>
          </a:solidFill>
          <a:ln/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285" y="2653955"/>
            <a:ext cx="269931" cy="26993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75458" y="3310128"/>
            <a:ext cx="1713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verification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012034" y="3858768"/>
            <a:ext cx="16404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signed scans are matched by QR code; the wrong document is flagged, not accepted.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091379" y="2103120"/>
            <a:ext cx="2006194" cy="324612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91379" y="2103120"/>
            <a:ext cx="2006194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9" name="Shape 15"/>
          <p:cNvSpPr/>
          <p:nvPr/>
        </p:nvSpPr>
        <p:spPr>
          <a:xfrm>
            <a:off x="5719572" y="2414016"/>
            <a:ext cx="749808" cy="749808"/>
          </a:xfrm>
          <a:prstGeom prst="ellipse">
            <a:avLst/>
          </a:prstGeom>
          <a:solidFill>
            <a:srgbClr val="16284C"/>
          </a:solidFill>
          <a:ln/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511" y="2653955"/>
            <a:ext cx="269931" cy="26993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37683" y="3310128"/>
            <a:ext cx="1713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Two-person review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274259" y="3858768"/>
            <a:ext cx="16404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officer who uploads a signed scan cannot be the one who confirms it.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353605" y="2103120"/>
            <a:ext cx="2006194" cy="324612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353605" y="2103120"/>
            <a:ext cx="2006194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5" name="Shape 20"/>
          <p:cNvSpPr/>
          <p:nvPr/>
        </p:nvSpPr>
        <p:spPr>
          <a:xfrm>
            <a:off x="7981798" y="2414016"/>
            <a:ext cx="749808" cy="749808"/>
          </a:xfrm>
          <a:prstGeom prst="ellipse">
            <a:avLst/>
          </a:prstGeom>
          <a:solidFill>
            <a:srgbClr val="16284C"/>
          </a:solidFill>
          <a:ln/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736" y="2653955"/>
            <a:ext cx="269931" cy="26993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99909" y="3310128"/>
            <a:ext cx="1713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Tracked status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7536485" y="3858768"/>
            <a:ext cx="16404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release is followed from draft through to released, always visible.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9615830" y="2103120"/>
            <a:ext cx="2006194" cy="324612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615830" y="2103120"/>
            <a:ext cx="2006194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1" name="Shape 25"/>
          <p:cNvSpPr/>
          <p:nvPr/>
        </p:nvSpPr>
        <p:spPr>
          <a:xfrm>
            <a:off x="10244023" y="2414016"/>
            <a:ext cx="749808" cy="749808"/>
          </a:xfrm>
          <a:prstGeom prst="ellipse">
            <a:avLst/>
          </a:prstGeom>
          <a:solidFill>
            <a:srgbClr val="16284C"/>
          </a:solidFill>
          <a:ln/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3962" y="2653955"/>
            <a:ext cx="269931" cy="269931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762134" y="3310128"/>
            <a:ext cx="1713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audit log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9798710" y="3858768"/>
            <a:ext cx="16404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is recorded, giving a complete forensic trail.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Executive Summary</a:t>
            </a:r>
            <a:endParaRPr lang="en-US" sz="850" dirty="0"/>
          </a:p>
        </p:txBody>
      </p:sp>
      <p:sp>
        <p:nvSpPr>
          <p:cNvPr id="36" name="Text 29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97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489454" cy="2788920"/>
          </a:xfrm>
          <a:prstGeom prst="roundRect">
            <a:avLst>
              <a:gd name="adj" fmla="val 3673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395728"/>
            <a:ext cx="23065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13232" y="3639312"/>
            <a:ext cx="21968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stages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4005072"/>
            <a:ext cx="20871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request to BoQ deduction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2142" y="2011680"/>
            <a:ext cx="2489454" cy="2788920"/>
          </a:xfrm>
          <a:prstGeom prst="roundRect">
            <a:avLst>
              <a:gd name="adj" fmla="val 3673"/>
            </a:avLst>
          </a:prstGeom>
          <a:solidFill>
            <a:srgbClr val="16284C"/>
          </a:solidFill>
          <a:ln w="12700">
            <a:solidFill>
              <a:srgbClr val="162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3582" y="2395728"/>
            <a:ext cx="23065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3568446" y="3639312"/>
            <a:ext cx="21968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events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23310" y="4005072"/>
            <a:ext cx="20871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triggering an automatic email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7356" y="2011680"/>
            <a:ext cx="2489454" cy="2788920"/>
          </a:xfrm>
          <a:prstGeom prst="roundRect">
            <a:avLst>
              <a:gd name="adj" fmla="val 3673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8796" y="2395728"/>
            <a:ext cx="23065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800" dirty="0"/>
          </a:p>
        </p:txBody>
      </p:sp>
      <p:sp>
        <p:nvSpPr>
          <p:cNvPr id="14" name="Text 12"/>
          <p:cNvSpPr/>
          <p:nvPr/>
        </p:nvSpPr>
        <p:spPr>
          <a:xfrm>
            <a:off x="6423660" y="3639312"/>
            <a:ext cx="21968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78524" y="4005072"/>
            <a:ext cx="20871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per release, in one action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32570" y="2011680"/>
            <a:ext cx="2489454" cy="2788920"/>
          </a:xfrm>
          <a:prstGeom prst="roundRect">
            <a:avLst>
              <a:gd name="adj" fmla="val 3673"/>
            </a:avLst>
          </a:prstGeom>
          <a:solidFill>
            <a:srgbClr val="16284C"/>
          </a:solidFill>
          <a:ln w="12700">
            <a:solidFill>
              <a:srgbClr val="162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24010" y="2395728"/>
            <a:ext cx="23065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5800" dirty="0"/>
          </a:p>
        </p:txBody>
      </p:sp>
      <p:sp>
        <p:nvSpPr>
          <p:cNvPr id="18" name="Text 16"/>
          <p:cNvSpPr/>
          <p:nvPr/>
        </p:nvSpPr>
        <p:spPr>
          <a:xfrm>
            <a:off x="9278874" y="3639312"/>
            <a:ext cx="21968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status changes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333738" y="4005072"/>
            <a:ext cx="20871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the audit log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50749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build, in four figures — a workflow that is instrumented end to end.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Executive Summary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97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in practice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3441192" cy="3200400"/>
          </a:xfrm>
          <a:prstGeom prst="roundRect">
            <a:avLst>
              <a:gd name="adj" fmla="val 2857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2414016"/>
            <a:ext cx="841248" cy="841248"/>
          </a:xfrm>
          <a:prstGeom prst="ellipse">
            <a:avLst/>
          </a:prstGeom>
          <a:solidFill>
            <a:srgbClr val="E8A317"/>
          </a:solidFill>
          <a:ln/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175" y="2683215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3429000"/>
            <a:ext cx="2673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traceability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50976" y="4023360"/>
            <a:ext cx="2673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can be followed from the form that created it to the exact quantity deducted from the project Bill of Quantity.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3880" y="2011680"/>
            <a:ext cx="3441192" cy="3200400"/>
          </a:xfrm>
          <a:prstGeom prst="roundRect">
            <a:avLst>
              <a:gd name="adj" fmla="val 2857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7928" y="2414016"/>
            <a:ext cx="841248" cy="841248"/>
          </a:xfrm>
          <a:prstGeom prst="ellipse">
            <a:avLst/>
          </a:prstGeom>
          <a:solidFill>
            <a:srgbClr val="E8A317"/>
          </a:solidFill>
          <a:ln/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127" y="2683215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7928" y="3429000"/>
            <a:ext cx="2673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alert at every handover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757928" y="4023360"/>
            <a:ext cx="2673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is emailed when work reaches them, so the process advances without anyone needing to poll a screen.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80832" y="2011680"/>
            <a:ext cx="3441192" cy="3200400"/>
          </a:xfrm>
          <a:prstGeom prst="roundRect">
            <a:avLst>
              <a:gd name="adj" fmla="val 2857"/>
            </a:avLst>
          </a:prstGeom>
          <a:solidFill>
            <a:srgbClr val="F4F7FB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64880" y="2414016"/>
            <a:ext cx="841248" cy="841248"/>
          </a:xfrm>
          <a:prstGeom prst="ellipse">
            <a:avLst/>
          </a:prstGeom>
          <a:solidFill>
            <a:srgbClr val="E8A317"/>
          </a:solidFill>
          <a:ln/>
          <a:effectLst>
            <a:outerShdw sx="100000" sy="100000" kx="0" ky="0" algn="bl" rotWithShape="0" blurRad="88900" dist="38100" dir="8100000">
              <a:srgbClr val="0B1A33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079" y="2683215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64880" y="3429000"/>
            <a:ext cx="2673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6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Signed-ready documents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564880" y="4023360"/>
            <a:ext cx="2673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Memos and letters are generated consistently, uniquely coded and QR-verifiable — replacing manual typing.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Executive Summary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4114800"/>
            <a:ext cx="5486400" cy="5486400"/>
          </a:xfrm>
          <a:prstGeom prst="ellipse">
            <a:avLst/>
          </a:prstGeom>
          <a:solidFill>
            <a:srgbClr val="23396B"/>
          </a:solidFill>
          <a:ln/>
        </p:spPr>
      </p:sp>
      <p:sp>
        <p:nvSpPr>
          <p:cNvPr id="3" name="Shape 1"/>
          <p:cNvSpPr/>
          <p:nvPr/>
        </p:nvSpPr>
        <p:spPr>
          <a:xfrm>
            <a:off x="10634472" y="5120640"/>
            <a:ext cx="2926080" cy="2926080"/>
          </a:xfrm>
          <a:prstGeom prst="ellipse">
            <a:avLst/>
          </a:prstGeom>
          <a:solidFill>
            <a:srgbClr val="3E5C92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" y="22860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line on a form to a verified deduction on the project's Bill of Quantity.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40690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end to end, with an email at every handover and signed-ready documents produced in a single click.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5120640"/>
            <a:ext cx="3108960" cy="0"/>
          </a:xfrm>
          <a:prstGeom prst="line">
            <a:avLst/>
          </a:prstGeom>
          <a:noFill/>
          <a:ln w="25400">
            <a:solidFill>
              <a:srgbClr val="E8A3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303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is set out in the technical brief  ·  MOEN-IMS  ·  24 May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MOEN-IMS — Current Workflow, Email Alerts &amp; Document Automation</dc:title>
  <dc:subject>PptxGenJS Presentation</dc:subject>
  <dc:creator>Leslie Nii Adjei</dc:creator>
  <cp:lastModifiedBy>Leslie Nii Adjei</cp:lastModifiedBy>
  <cp:revision>1</cp:revision>
  <dcterms:created xsi:type="dcterms:W3CDTF">2026-05-24T21:43:04Z</dcterms:created>
  <dcterms:modified xsi:type="dcterms:W3CDTF">2026-05-24T21:43:04Z</dcterms:modified>
</cp:coreProperties>
</file>